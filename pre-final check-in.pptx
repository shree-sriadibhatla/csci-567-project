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3EtZ3nsNyD4ibujO1HRyL7Tu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0D2400-5864-47B2-B447-323584CE2E8B}">
  <a:tblStyle styleId="{D20D2400-5864-47B2-B447-323584CE2E8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63b7b7d86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63b7b7d86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638ecb74a_0_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e638ecb74a_0_4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638ecb74a_0_4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63b7b7d86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63b7b7d86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algorithms, we use a range of models with different complexity levels.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includes logistic regression as a simple baseline,</a:t>
            </a:r>
            <a:br>
              <a:rPr lang="en-US"/>
            </a:br>
            <a:r>
              <a:rPr lang="en-US"/>
              <a:t>tree-based models like decision trees and random forests,</a:t>
            </a:r>
            <a:br>
              <a:rPr lang="en-US"/>
            </a:br>
            <a:r>
              <a:rPr lang="en-US"/>
              <a:t>gradient boosting such as XGBoost,</a:t>
            </a:r>
            <a:br>
              <a:rPr lang="en-US"/>
            </a:br>
            <a:r>
              <a:rPr lang="en-US"/>
              <a:t>and a neural network as a higher-capacity model.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allows us to compare how model complexity affects robustness and fairness.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experiments, we design four main analyses.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First, we measure temporal robustness by evaluating how performance degrades over time.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Second, we study how model design choices, such as regularization and complexity, affect both robustness and fairness.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Third, we analyze fairness by comparing error rates across different borrower groups.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Finally, we study the trade-off between robustness and fairness,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identify which models best balance both.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e63b7b7d86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63b7b7d86_5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63b7b7d86_5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63b7b7d86_5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638ecb74a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e638ecb74a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e638ecb74a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63b7b7d86_0_2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e63b7b7d86_0_2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63b7b7d86_0_2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63b7b7d86_13_0"/>
          <p:cNvSpPr txBox="1"/>
          <p:nvPr>
            <p:ph type="ctrTitle"/>
          </p:nvPr>
        </p:nvSpPr>
        <p:spPr>
          <a:xfrm>
            <a:off x="0" y="736284"/>
            <a:ext cx="12192000" cy="3183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CSCI 567 Pre-Final Check in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Temporally Robust and Fair Credit Risk Prediction</a:t>
            </a:r>
            <a:endParaRPr sz="4800"/>
          </a:p>
        </p:txBody>
      </p:sp>
      <p:sp>
        <p:nvSpPr>
          <p:cNvPr id="90" name="Google Shape;90;g3e63b7b7d86_13_0"/>
          <p:cNvSpPr txBox="1"/>
          <p:nvPr>
            <p:ph idx="1" type="subTitle"/>
          </p:nvPr>
        </p:nvSpPr>
        <p:spPr>
          <a:xfrm>
            <a:off x="0" y="4418592"/>
            <a:ext cx="12192000" cy="220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Shree Sriadibhatla, Sadokat Khakimova, Zahra Iranmanesh, Hyeon Ah Jung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638ecb74a_0_40"/>
          <p:cNvSpPr/>
          <p:nvPr/>
        </p:nvSpPr>
        <p:spPr>
          <a:xfrm>
            <a:off x="487680" y="243840"/>
            <a:ext cx="11216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Recap &amp; Scope Changes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638ecb74a_0_40"/>
          <p:cNvSpPr/>
          <p:nvPr/>
        </p:nvSpPr>
        <p:spPr>
          <a:xfrm>
            <a:off x="487680" y="1072896"/>
            <a:ext cx="11216700" cy="30300"/>
          </a:xfrm>
          <a:prstGeom prst="rect">
            <a:avLst/>
          </a:prstGeom>
          <a:solidFill>
            <a:srgbClr val="CADCFC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638ecb74a_0_40"/>
          <p:cNvSpPr/>
          <p:nvPr/>
        </p:nvSpPr>
        <p:spPr>
          <a:xfrm>
            <a:off x="487680" y="1243584"/>
            <a:ext cx="11216700" cy="7560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638ecb74a_0_40"/>
          <p:cNvSpPr/>
          <p:nvPr/>
        </p:nvSpPr>
        <p:spPr>
          <a:xfrm>
            <a:off x="731520" y="1304544"/>
            <a:ext cx="3657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Research Question — unchanged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e638ecb74a_0_40"/>
          <p:cNvSpPr/>
          <p:nvPr/>
        </p:nvSpPr>
        <p:spPr>
          <a:xfrm>
            <a:off x="731520" y="1548384"/>
            <a:ext cx="107289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 stayed the same: can credit-risk models stay accurate over time, and are they fair across borrower groups?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e638ecb74a_0_40"/>
          <p:cNvSpPr/>
          <p:nvPr/>
        </p:nvSpPr>
        <p:spPr>
          <a:xfrm>
            <a:off x="487680" y="2170176"/>
            <a:ext cx="670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What Changed Since Check-in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e638ecb74a_0_40"/>
          <p:cNvSpPr/>
          <p:nvPr/>
        </p:nvSpPr>
        <p:spPr>
          <a:xfrm>
            <a:off x="487675" y="2633475"/>
            <a:ext cx="6705600" cy="9510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638ecb74a_0_40"/>
          <p:cNvSpPr/>
          <p:nvPr/>
        </p:nvSpPr>
        <p:spPr>
          <a:xfrm>
            <a:off x="487673" y="2633475"/>
            <a:ext cx="85200" cy="9510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638ecb74a_0_40"/>
          <p:cNvSpPr/>
          <p:nvPr/>
        </p:nvSpPr>
        <p:spPr>
          <a:xfrm>
            <a:off x="670527" y="2633299"/>
            <a:ext cx="6339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Train / Val / Test 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e638ecb74a_0_40"/>
          <p:cNvSpPr/>
          <p:nvPr/>
        </p:nvSpPr>
        <p:spPr>
          <a:xfrm>
            <a:off x="682752" y="2999232"/>
            <a:ext cx="6339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Temporal: train ≤ 2013, val 2014–2015, test ≥ 2016  </a:t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Random: 70% train / 15% val / 15% test </a:t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t/>
            </a:r>
            <a:endParaRPr sz="2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Added validation set for hyperparameter 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test set reserved for final evaluation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e638ecb74a_0_40"/>
          <p:cNvSpPr/>
          <p:nvPr/>
        </p:nvSpPr>
        <p:spPr>
          <a:xfrm>
            <a:off x="487675" y="3584450"/>
            <a:ext cx="6705600" cy="6510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638ecb74a_0_40"/>
          <p:cNvSpPr/>
          <p:nvPr/>
        </p:nvSpPr>
        <p:spPr>
          <a:xfrm>
            <a:off x="487680" y="3584448"/>
            <a:ext cx="85200" cy="8292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638ecb74a_0_40"/>
          <p:cNvSpPr/>
          <p:nvPr/>
        </p:nvSpPr>
        <p:spPr>
          <a:xfrm>
            <a:off x="682752" y="3657600"/>
            <a:ext cx="6339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Separate temporal and random models are trained</a:t>
            </a:r>
            <a:endParaRPr b="1" sz="1300">
              <a:solidFill>
                <a:srgbClr val="2E7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2E7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638ecb74a_0_40"/>
          <p:cNvSpPr/>
          <p:nvPr/>
        </p:nvSpPr>
        <p:spPr>
          <a:xfrm>
            <a:off x="670525" y="3922265"/>
            <a:ext cx="63399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62"/>
              <a:buFont typeface="Calibri"/>
              <a:buNone/>
            </a:pPr>
            <a:r>
              <a:rPr lang="en-US" sz="1262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separate models trained for temporal and random setups</a:t>
            </a:r>
            <a:endParaRPr sz="126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638ecb74a_0_40"/>
          <p:cNvSpPr/>
          <p:nvPr/>
        </p:nvSpPr>
        <p:spPr>
          <a:xfrm>
            <a:off x="487675" y="4206200"/>
            <a:ext cx="6705600" cy="951000"/>
          </a:xfrm>
          <a:prstGeom prst="rect">
            <a:avLst/>
          </a:prstGeom>
          <a:solidFill>
            <a:srgbClr val="FAFBFF"/>
          </a:solidFill>
          <a:ln cap="flat" cmpd="sng" w="19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800" lIns="139800" spcFirstLastPara="1" rIns="139800" wrap="square" tIns="13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638ecb74a_0_40"/>
          <p:cNvSpPr/>
          <p:nvPr/>
        </p:nvSpPr>
        <p:spPr>
          <a:xfrm>
            <a:off x="487825" y="4206200"/>
            <a:ext cx="85200" cy="951000"/>
          </a:xfrm>
          <a:prstGeom prst="rect">
            <a:avLst/>
          </a:prstGeom>
          <a:solidFill>
            <a:srgbClr val="E07B2A"/>
          </a:solidFill>
          <a:ln cap="flat" cmpd="sng" w="194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800" lIns="139800" spcFirstLastPara="1" rIns="139800" wrap="square" tIns="13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638ecb74a_0_40"/>
          <p:cNvSpPr/>
          <p:nvPr/>
        </p:nvSpPr>
        <p:spPr>
          <a:xfrm>
            <a:off x="682901" y="4226588"/>
            <a:ext cx="63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1" sz="1300">
              <a:solidFill>
                <a:srgbClr val="2E7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638ecb74a_0_40"/>
          <p:cNvSpPr/>
          <p:nvPr/>
        </p:nvSpPr>
        <p:spPr>
          <a:xfrm>
            <a:off x="682600" y="4505680"/>
            <a:ext cx="6340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6"/>
              <a:buFont typeface="Calibri"/>
              <a:buNone/>
            </a:pP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Missing values imputed using medians computed on training data only</a:t>
            </a:r>
            <a:endParaRPr sz="1166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6"/>
              <a:buFont typeface="Calibri"/>
              <a:buNone/>
            </a:pP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Feature scaling fit on training set and applied to val/test</a:t>
            </a:r>
            <a:endParaRPr sz="1166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6"/>
              <a:buFont typeface="Calibri"/>
              <a:buNone/>
            </a:pP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Fairness groups (income, credit history) defined using training data only</a:t>
            </a:r>
            <a:endParaRPr sz="1166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638ecb74a_0_40"/>
          <p:cNvSpPr/>
          <p:nvPr/>
        </p:nvSpPr>
        <p:spPr>
          <a:xfrm>
            <a:off x="487825" y="5138825"/>
            <a:ext cx="6705600" cy="1074000"/>
          </a:xfrm>
          <a:prstGeom prst="rect">
            <a:avLst/>
          </a:prstGeom>
          <a:solidFill>
            <a:srgbClr val="FAFBFF"/>
          </a:solidFill>
          <a:ln cap="flat" cmpd="sng" w="179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250" lIns="129250" spcFirstLastPara="1" rIns="129250" wrap="square" tIns="129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638ecb74a_0_40"/>
          <p:cNvSpPr/>
          <p:nvPr/>
        </p:nvSpPr>
        <p:spPr>
          <a:xfrm>
            <a:off x="487825" y="5138825"/>
            <a:ext cx="85200" cy="1074000"/>
          </a:xfrm>
          <a:prstGeom prst="rect">
            <a:avLst/>
          </a:prstGeom>
          <a:solidFill>
            <a:srgbClr val="4472C4"/>
          </a:solidFill>
          <a:ln cap="flat" cmpd="sng" w="179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250" lIns="129250" spcFirstLastPara="1" rIns="129250" wrap="square" tIns="129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638ecb74a_0_40"/>
          <p:cNvSpPr/>
          <p:nvPr/>
        </p:nvSpPr>
        <p:spPr>
          <a:xfrm>
            <a:off x="682899" y="5216396"/>
            <a:ext cx="6340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79"/>
              <a:buFont typeface="Calibri"/>
              <a:buNone/>
            </a:pPr>
            <a:r>
              <a:rPr b="1" lang="en-US" sz="1379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Models &amp; Implementation</a:t>
            </a:r>
            <a:endParaRPr b="0" i="0" sz="13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638ecb74a_0_40"/>
          <p:cNvSpPr/>
          <p:nvPr/>
        </p:nvSpPr>
        <p:spPr>
          <a:xfrm>
            <a:off x="670375" y="5530175"/>
            <a:ext cx="63402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6"/>
              <a:buFont typeface="Calibri"/>
              <a:buNone/>
            </a:pP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r</a:t>
            </a: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efined Logistic Regression (L2 tuning) and Decision Tree (depth tuning)</a:t>
            </a:r>
            <a:endParaRPr b="0" i="0" sz="11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6"/>
              <a:buFont typeface="Calibri"/>
              <a:buNone/>
            </a:pPr>
            <a:r>
              <a:rPr b="0" i="0" lang="en-US" sz="1166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added and integrated Random Forest and XGBoost into the same pipeline</a:t>
            </a:r>
            <a:b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a</a:t>
            </a:r>
            <a:r>
              <a:rPr lang="en-US" sz="116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 models trained with consistent temporal and random setups</a:t>
            </a:r>
            <a:endParaRPr sz="1166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6"/>
              <a:buFont typeface="Calibri"/>
              <a:buNone/>
            </a:pPr>
            <a:r>
              <a:t/>
            </a:r>
            <a:endParaRPr sz="1166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638ecb74a_0_40"/>
          <p:cNvSpPr/>
          <p:nvPr/>
        </p:nvSpPr>
        <p:spPr>
          <a:xfrm>
            <a:off x="7437120" y="2170176"/>
            <a:ext cx="426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Metrics and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638ecb74a_0_40"/>
          <p:cNvSpPr/>
          <p:nvPr/>
        </p:nvSpPr>
        <p:spPr>
          <a:xfrm>
            <a:off x="7437125" y="2633476"/>
            <a:ext cx="4267200" cy="19515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638ecb74a_0_40"/>
          <p:cNvSpPr/>
          <p:nvPr/>
        </p:nvSpPr>
        <p:spPr>
          <a:xfrm>
            <a:off x="7437123" y="2633476"/>
            <a:ext cx="85200" cy="1951500"/>
          </a:xfrm>
          <a:prstGeom prst="rect">
            <a:avLst/>
          </a:prstGeom>
          <a:solidFill>
            <a:srgbClr val="E07B2A"/>
          </a:solidFill>
          <a:ln cap="flat" cmpd="sng" w="16925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638ecb74a_0_40"/>
          <p:cNvSpPr/>
          <p:nvPr/>
        </p:nvSpPr>
        <p:spPr>
          <a:xfrm>
            <a:off x="7591335" y="2696987"/>
            <a:ext cx="3901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Evaluation &amp;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638ecb74a_0_40"/>
          <p:cNvSpPr/>
          <p:nvPr/>
        </p:nvSpPr>
        <p:spPr>
          <a:xfrm>
            <a:off x="7437125" y="4698025"/>
            <a:ext cx="4267200" cy="17901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638ecb74a_0_40"/>
          <p:cNvSpPr/>
          <p:nvPr/>
        </p:nvSpPr>
        <p:spPr>
          <a:xfrm>
            <a:off x="7437125" y="4698025"/>
            <a:ext cx="85200" cy="17901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638ecb74a_0_40"/>
          <p:cNvSpPr/>
          <p:nvPr/>
        </p:nvSpPr>
        <p:spPr>
          <a:xfrm>
            <a:off x="7591313" y="4705654"/>
            <a:ext cx="39015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Fairness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e638ecb74a_0_40"/>
          <p:cNvSpPr/>
          <p:nvPr/>
        </p:nvSpPr>
        <p:spPr>
          <a:xfrm>
            <a:off x="7560863" y="5013707"/>
            <a:ext cx="39624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We measure FPR, TPR, and PPR across borrower groups to capture different kinds of disparit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638ecb74a_0_40"/>
          <p:cNvSpPr/>
          <p:nvPr/>
        </p:nvSpPr>
        <p:spPr>
          <a:xfrm>
            <a:off x="7560863" y="5470590"/>
            <a:ext cx="39624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Evaluated at threshold 0.5 and across multiple thresholds (0.3–0.7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638ecb74a_0_40"/>
          <p:cNvSpPr/>
          <p:nvPr/>
        </p:nvSpPr>
        <p:spPr>
          <a:xfrm>
            <a:off x="7578037" y="5880269"/>
            <a:ext cx="39624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S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compute worst-case threshold-aware disparity across multiple thresholds, since fairness at a single threshold can be misleading.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638ecb74a_0_40"/>
          <p:cNvSpPr/>
          <p:nvPr/>
        </p:nvSpPr>
        <p:spPr>
          <a:xfrm>
            <a:off x="7589525" y="2999872"/>
            <a:ext cx="3962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Random AUC measures performance under the standard random-split benchmark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638ecb74a_0_40"/>
          <p:cNvSpPr/>
          <p:nvPr/>
        </p:nvSpPr>
        <p:spPr>
          <a:xfrm>
            <a:off x="7589525" y="3406024"/>
            <a:ext cx="39624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AUC drop = Random AUC minus Temporal AUC, which captures how much performance is lost under temporal shift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638ecb74a_0_40"/>
          <p:cNvSpPr/>
          <p:nvPr/>
        </p:nvSpPr>
        <p:spPr>
          <a:xfrm>
            <a:off x="7589513" y="4099938"/>
            <a:ext cx="39624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Yearly AUC trend breaks temporal performance down by year to show whether degradation stays stable or worsens over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63b7b7d86_0_76"/>
          <p:cNvSpPr/>
          <p:nvPr/>
        </p:nvSpPr>
        <p:spPr>
          <a:xfrm>
            <a:off x="0" y="0"/>
            <a:ext cx="73200" cy="6858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e63b7b7d86_0_76"/>
          <p:cNvSpPr/>
          <p:nvPr/>
        </p:nvSpPr>
        <p:spPr>
          <a:xfrm>
            <a:off x="365760" y="304800"/>
            <a:ext cx="11460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6"/>
              <a:buFont typeface="Arial"/>
              <a:buNone/>
            </a:pPr>
            <a:r>
              <a:rPr b="1" i="0" lang="en-US" sz="3467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Selection: Random Forest</a:t>
            </a:r>
            <a:endParaRPr b="0" i="0" sz="34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63b7b7d86_0_76"/>
          <p:cNvSpPr/>
          <p:nvPr/>
        </p:nvSpPr>
        <p:spPr>
          <a:xfrm>
            <a:off x="365760" y="1072896"/>
            <a:ext cx="11216700" cy="1830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e63b7b7d86_0_76"/>
          <p:cNvSpPr/>
          <p:nvPr/>
        </p:nvSpPr>
        <p:spPr>
          <a:xfrm>
            <a:off x="391854" y="2354549"/>
            <a:ext cx="3479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A6FD4"/>
                </a:solidFill>
                <a:latin typeface="Calibri"/>
                <a:ea typeface="Calibri"/>
                <a:cs typeface="Calibri"/>
                <a:sym typeface="Calibri"/>
              </a:rPr>
              <a:t>Why Random Forest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e63b7b7d86_0_76"/>
          <p:cNvSpPr/>
          <p:nvPr/>
        </p:nvSpPr>
        <p:spPr>
          <a:xfrm>
            <a:off x="391850" y="2805673"/>
            <a:ext cx="3479100" cy="126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e63b7b7d86_0_76"/>
          <p:cNvSpPr/>
          <p:nvPr/>
        </p:nvSpPr>
        <p:spPr>
          <a:xfrm>
            <a:off x="391860" y="2805664"/>
            <a:ext cx="85200" cy="512100"/>
          </a:xfrm>
          <a:prstGeom prst="rect">
            <a:avLst/>
          </a:prstGeom>
          <a:solidFill>
            <a:srgbClr val="4A6FD4"/>
          </a:solidFill>
          <a:ln cap="flat" cmpd="sng" w="12700">
            <a:solidFill>
              <a:srgbClr val="4A6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63b7b7d86_0_76"/>
          <p:cNvSpPr/>
          <p:nvPr/>
        </p:nvSpPr>
        <p:spPr>
          <a:xfrm>
            <a:off x="518152" y="2805678"/>
            <a:ext cx="335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Ensemble of trees reduces variance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 directly tunable for robustness-fairness tradeoff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63b7b7d86_0_76"/>
          <p:cNvSpPr/>
          <p:nvPr/>
        </p:nvSpPr>
        <p:spPr>
          <a:xfrm>
            <a:off x="498070" y="3415277"/>
            <a:ext cx="335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max_depth + min_samples_leaf control overfitting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 naturally robust to distribution shift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63b7b7d86_0_76"/>
          <p:cNvSpPr/>
          <p:nvPr/>
        </p:nvSpPr>
        <p:spPr>
          <a:xfrm>
            <a:off x="365755" y="4313117"/>
            <a:ext cx="3657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Search Space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63b7b7d86_0_76"/>
          <p:cNvSpPr/>
          <p:nvPr/>
        </p:nvSpPr>
        <p:spPr>
          <a:xfrm>
            <a:off x="365750" y="4703250"/>
            <a:ext cx="3505200" cy="16461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63b7b7d86_0_76"/>
          <p:cNvSpPr/>
          <p:nvPr/>
        </p:nvSpPr>
        <p:spPr>
          <a:xfrm>
            <a:off x="365755" y="4703261"/>
            <a:ext cx="85200" cy="16461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e63b7b7d86_0_76"/>
          <p:cNvSpPr/>
          <p:nvPr/>
        </p:nvSpPr>
        <p:spPr>
          <a:xfrm>
            <a:off x="560827" y="4752029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n_estimators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63b7b7d86_0_76"/>
          <p:cNvSpPr/>
          <p:nvPr/>
        </p:nvSpPr>
        <p:spPr>
          <a:xfrm>
            <a:off x="2194555" y="4752029"/>
            <a:ext cx="17067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 / 100 / 200 / 300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63b7b7d86_0_76"/>
          <p:cNvSpPr/>
          <p:nvPr/>
        </p:nvSpPr>
        <p:spPr>
          <a:xfrm>
            <a:off x="560827" y="4926374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max_depth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63b7b7d86_0_76"/>
          <p:cNvSpPr/>
          <p:nvPr/>
        </p:nvSpPr>
        <p:spPr>
          <a:xfrm>
            <a:off x="2194555" y="4926374"/>
            <a:ext cx="17067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 8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63b7b7d86_0_76"/>
          <p:cNvSpPr/>
          <p:nvPr/>
        </p:nvSpPr>
        <p:spPr>
          <a:xfrm>
            <a:off x="560827" y="5100720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min_samples_leaf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63b7b7d86_0_76"/>
          <p:cNvSpPr/>
          <p:nvPr/>
        </p:nvSpPr>
        <p:spPr>
          <a:xfrm>
            <a:off x="2194555" y="5100720"/>
            <a:ext cx="17067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/ 5 / 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63b7b7d86_0_76"/>
          <p:cNvSpPr/>
          <p:nvPr/>
        </p:nvSpPr>
        <p:spPr>
          <a:xfrm>
            <a:off x="560827" y="5275066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max_features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63b7b7d86_0_76"/>
          <p:cNvSpPr/>
          <p:nvPr/>
        </p:nvSpPr>
        <p:spPr>
          <a:xfrm>
            <a:off x="2194555" y="5275066"/>
            <a:ext cx="17067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sqrt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log2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63b7b7d86_0_76"/>
          <p:cNvSpPr/>
          <p:nvPr/>
        </p:nvSpPr>
        <p:spPr>
          <a:xfrm>
            <a:off x="560827" y="5449412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ccp_alpha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63b7b7d86_0_76"/>
          <p:cNvSpPr/>
          <p:nvPr/>
        </p:nvSpPr>
        <p:spPr>
          <a:xfrm>
            <a:off x="2194555" y="5449412"/>
            <a:ext cx="17067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63b7b7d86_0_76"/>
          <p:cNvSpPr/>
          <p:nvPr/>
        </p:nvSpPr>
        <p:spPr>
          <a:xfrm>
            <a:off x="560827" y="5623757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min_impurity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63b7b7d86_0_76"/>
          <p:cNvSpPr/>
          <p:nvPr/>
        </p:nvSpPr>
        <p:spPr>
          <a:xfrm>
            <a:off x="2194555" y="5623757"/>
            <a:ext cx="17067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63b7b7d86_0_76"/>
          <p:cNvSpPr/>
          <p:nvPr/>
        </p:nvSpPr>
        <p:spPr>
          <a:xfrm>
            <a:off x="560827" y="5798098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random_state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e63b7b7d86_0_76"/>
          <p:cNvSpPr/>
          <p:nvPr/>
        </p:nvSpPr>
        <p:spPr>
          <a:xfrm>
            <a:off x="2194555" y="5798111"/>
            <a:ext cx="17067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63b7b7d86_0_76"/>
          <p:cNvSpPr/>
          <p:nvPr/>
        </p:nvSpPr>
        <p:spPr>
          <a:xfrm>
            <a:off x="560827" y="6146794"/>
            <a:ext cx="15849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e63b7b7d86_0_76"/>
          <p:cNvSpPr/>
          <p:nvPr/>
        </p:nvSpPr>
        <p:spPr>
          <a:xfrm>
            <a:off x="365752" y="6495506"/>
            <a:ext cx="32919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→ 17 total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63b7b7d86_0_76"/>
          <p:cNvSpPr/>
          <p:nvPr/>
        </p:nvSpPr>
        <p:spPr>
          <a:xfrm>
            <a:off x="365755" y="1220025"/>
            <a:ext cx="11216700" cy="9507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63b7b7d86_0_76"/>
          <p:cNvSpPr/>
          <p:nvPr/>
        </p:nvSpPr>
        <p:spPr>
          <a:xfrm>
            <a:off x="609595" y="1293177"/>
            <a:ext cx="60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 Best Model: RF_n</a:t>
            </a: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00_d</a:t>
            </a: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e63b7b7d86_0_76"/>
          <p:cNvSpPr/>
          <p:nvPr/>
        </p:nvSpPr>
        <p:spPr>
          <a:xfrm>
            <a:off x="609595" y="1658937"/>
            <a:ext cx="6705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n_estimators=</a:t>
            </a: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00  |  max_depth=</a:t>
            </a: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|  random_state=42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63b7b7d86_0_76"/>
          <p:cNvSpPr/>
          <p:nvPr/>
        </p:nvSpPr>
        <p:spPr>
          <a:xfrm>
            <a:off x="4189604" y="2354549"/>
            <a:ext cx="3479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A6FD4"/>
                </a:solidFill>
                <a:latin typeface="Calibri"/>
                <a:ea typeface="Calibri"/>
                <a:cs typeface="Calibri"/>
                <a:sym typeface="Calibri"/>
              </a:rPr>
              <a:t>Evaluation Criteria &amp; Scores</a:t>
            </a:r>
            <a:endParaRPr b="1" i="0" sz="1600" u="none" cap="none" strike="noStrike">
              <a:solidFill>
                <a:srgbClr val="4A6F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63b7b7d86_0_76"/>
          <p:cNvSpPr/>
          <p:nvPr/>
        </p:nvSpPr>
        <p:spPr>
          <a:xfrm>
            <a:off x="7035852" y="2378450"/>
            <a:ext cx="426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A6FD4"/>
                </a:solidFill>
                <a:latin typeface="Calibri"/>
                <a:ea typeface="Calibri"/>
                <a:cs typeface="Calibri"/>
                <a:sym typeface="Calibri"/>
              </a:rPr>
              <a:t>Top 3 Random Forest Models by Composite Score</a:t>
            </a:r>
            <a:endParaRPr b="1" i="0" sz="1600" u="none" cap="none" strike="noStrike">
              <a:solidFill>
                <a:srgbClr val="4A6F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63b7b7d86_0_76"/>
          <p:cNvSpPr/>
          <p:nvPr/>
        </p:nvSpPr>
        <p:spPr>
          <a:xfrm>
            <a:off x="4189600" y="2817700"/>
            <a:ext cx="2499300" cy="8169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63b7b7d86_0_76"/>
          <p:cNvSpPr/>
          <p:nvPr/>
        </p:nvSpPr>
        <p:spPr>
          <a:xfrm>
            <a:off x="4189595" y="2817689"/>
            <a:ext cx="85200" cy="8169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e63b7b7d86_0_76"/>
          <p:cNvSpPr/>
          <p:nvPr/>
        </p:nvSpPr>
        <p:spPr>
          <a:xfrm>
            <a:off x="4372475" y="2903033"/>
            <a:ext cx="231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Temporal Robustness (AUC Drop ↓)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63b7b7d86_0_76"/>
          <p:cNvSpPr/>
          <p:nvPr/>
        </p:nvSpPr>
        <p:spPr>
          <a:xfrm>
            <a:off x="4372475" y="3244409"/>
            <a:ext cx="463200" cy="2439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e63b7b7d86_0_76"/>
          <p:cNvSpPr/>
          <p:nvPr/>
        </p:nvSpPr>
        <p:spPr>
          <a:xfrm>
            <a:off x="4372475" y="3244409"/>
            <a:ext cx="463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63b7b7d86_0_76"/>
          <p:cNvSpPr/>
          <p:nvPr/>
        </p:nvSpPr>
        <p:spPr>
          <a:xfrm>
            <a:off x="5037227" y="3134181"/>
            <a:ext cx="1463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0.01</a:t>
            </a: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63b7b7d86_0_76"/>
          <p:cNvSpPr/>
          <p:nvPr/>
        </p:nvSpPr>
        <p:spPr>
          <a:xfrm>
            <a:off x="4189600" y="3756475"/>
            <a:ext cx="2499300" cy="8169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e63b7b7d86_0_76"/>
          <p:cNvSpPr/>
          <p:nvPr/>
        </p:nvSpPr>
        <p:spPr>
          <a:xfrm>
            <a:off x="4189595" y="3756473"/>
            <a:ext cx="85200" cy="8169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63b7b7d86_0_76"/>
          <p:cNvSpPr/>
          <p:nvPr/>
        </p:nvSpPr>
        <p:spPr>
          <a:xfrm>
            <a:off x="4372475" y="3841817"/>
            <a:ext cx="231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Fairness (</a:t>
            </a: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worst-case disparity</a:t>
            </a: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↓)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63b7b7d86_0_76"/>
          <p:cNvSpPr/>
          <p:nvPr/>
        </p:nvSpPr>
        <p:spPr>
          <a:xfrm>
            <a:off x="4372475" y="4183193"/>
            <a:ext cx="463200" cy="2439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63b7b7d86_0_76"/>
          <p:cNvSpPr/>
          <p:nvPr/>
        </p:nvSpPr>
        <p:spPr>
          <a:xfrm>
            <a:off x="4372475" y="4183193"/>
            <a:ext cx="463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63b7b7d86_0_76"/>
          <p:cNvSpPr/>
          <p:nvPr/>
        </p:nvSpPr>
        <p:spPr>
          <a:xfrm>
            <a:off x="5081887" y="4067290"/>
            <a:ext cx="1463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r>
              <a:rPr b="1" lang="en-US" sz="24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63b7b7d86_0_76"/>
          <p:cNvSpPr/>
          <p:nvPr/>
        </p:nvSpPr>
        <p:spPr>
          <a:xfrm>
            <a:off x="4189600" y="4695250"/>
            <a:ext cx="2499300" cy="8169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e63b7b7d86_0_76"/>
          <p:cNvSpPr/>
          <p:nvPr/>
        </p:nvSpPr>
        <p:spPr>
          <a:xfrm>
            <a:off x="4189595" y="4695257"/>
            <a:ext cx="85200" cy="816900"/>
          </a:xfrm>
          <a:prstGeom prst="rect">
            <a:avLst/>
          </a:prstGeom>
          <a:solidFill>
            <a:srgbClr val="4472C4"/>
          </a:solidFill>
          <a:ln cap="flat" cmpd="sng" w="169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e63b7b7d86_0_76"/>
          <p:cNvSpPr/>
          <p:nvPr/>
        </p:nvSpPr>
        <p:spPr>
          <a:xfrm>
            <a:off x="4372475" y="4780601"/>
            <a:ext cx="231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Performance (AUC ↑)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63b7b7d86_0_76"/>
          <p:cNvSpPr/>
          <p:nvPr/>
        </p:nvSpPr>
        <p:spPr>
          <a:xfrm>
            <a:off x="4372475" y="5121977"/>
            <a:ext cx="463200" cy="243900"/>
          </a:xfrm>
          <a:prstGeom prst="rect">
            <a:avLst/>
          </a:prstGeom>
          <a:solidFill>
            <a:srgbClr val="4472C4"/>
          </a:solidFill>
          <a:ln cap="flat" cmpd="sng" w="169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63b7b7d86_0_76"/>
          <p:cNvSpPr/>
          <p:nvPr/>
        </p:nvSpPr>
        <p:spPr>
          <a:xfrm>
            <a:off x="4372475" y="5121977"/>
            <a:ext cx="463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63b7b7d86_0_76"/>
          <p:cNvSpPr/>
          <p:nvPr/>
        </p:nvSpPr>
        <p:spPr>
          <a:xfrm>
            <a:off x="5081886" y="5110037"/>
            <a:ext cx="1463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r>
              <a:rPr b="1" lang="en-US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e63b7b7d86_0_76"/>
          <p:cNvSpPr/>
          <p:nvPr/>
        </p:nvSpPr>
        <p:spPr>
          <a:xfrm>
            <a:off x="4189600" y="5634050"/>
            <a:ext cx="2499300" cy="8169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e63b7b7d86_0_76"/>
          <p:cNvSpPr/>
          <p:nvPr/>
        </p:nvSpPr>
        <p:spPr>
          <a:xfrm>
            <a:off x="4189595" y="5634041"/>
            <a:ext cx="85200" cy="816900"/>
          </a:xfrm>
          <a:prstGeom prst="rect">
            <a:avLst/>
          </a:prstGeom>
          <a:solidFill>
            <a:srgbClr val="E07B2A"/>
          </a:solidFill>
          <a:ln cap="flat" cmpd="sng" w="16925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e63b7b7d86_0_76"/>
          <p:cNvSpPr/>
          <p:nvPr/>
        </p:nvSpPr>
        <p:spPr>
          <a:xfrm>
            <a:off x="4372475" y="5719385"/>
            <a:ext cx="2316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Accuracy (↑)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63b7b7d86_0_76"/>
          <p:cNvSpPr/>
          <p:nvPr/>
        </p:nvSpPr>
        <p:spPr>
          <a:xfrm>
            <a:off x="4372475" y="6060761"/>
            <a:ext cx="463200" cy="243900"/>
          </a:xfrm>
          <a:prstGeom prst="rect">
            <a:avLst/>
          </a:prstGeom>
          <a:solidFill>
            <a:srgbClr val="E07B2A"/>
          </a:solidFill>
          <a:ln cap="flat" cmpd="sng" w="16925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63b7b7d86_0_76"/>
          <p:cNvSpPr/>
          <p:nvPr/>
        </p:nvSpPr>
        <p:spPr>
          <a:xfrm>
            <a:off x="4372475" y="6060761"/>
            <a:ext cx="463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63b7b7d86_0_76"/>
          <p:cNvSpPr/>
          <p:nvPr/>
        </p:nvSpPr>
        <p:spPr>
          <a:xfrm>
            <a:off x="5081870" y="5922446"/>
            <a:ext cx="1463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0.9158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63b7b7d86_0_76"/>
          <p:cNvSpPr/>
          <p:nvPr/>
        </p:nvSpPr>
        <p:spPr>
          <a:xfrm>
            <a:off x="4189600" y="6572850"/>
            <a:ext cx="3986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Composite = 0.</a:t>
            </a: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×robustness + 0.4×fairness + 0.15×performance + 0.1×acc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g3e63b7b7d86_0_76"/>
          <p:cNvGraphicFramePr/>
          <p:nvPr/>
        </p:nvGraphicFramePr>
        <p:xfrm>
          <a:off x="7007554" y="2805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{D20D2400-5864-47B2-B447-323584CE2E8B}</a:tableStyleId>
              </a:tblPr>
              <a:tblGrid>
                <a:gridCol w="1100125"/>
                <a:gridCol w="811750"/>
                <a:gridCol w="686450"/>
                <a:gridCol w="686450"/>
                <a:gridCol w="686450"/>
                <a:gridCol w="677825"/>
              </a:tblGrid>
              <a:tr h="44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t_auc</a:t>
                      </a:r>
                      <a:endParaRPr sz="1200" u="none" cap="none" strike="noStrike"/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drop</a:t>
                      </a:r>
                      <a:endParaRPr sz="1200" u="none" cap="none" strike="noStrike"/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acc</a:t>
                      </a:r>
                      <a:endParaRPr b="1"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fair</a:t>
                      </a:r>
                      <a:endParaRPr b="1"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score</a:t>
                      </a:r>
                      <a:endParaRPr sz="1200" u="none" cap="none" strike="noStrike"/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RF_n</a:t>
                      </a:r>
                      <a:r>
                        <a:rPr b="1" lang="en-US" sz="1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00_d</a:t>
                      </a:r>
                      <a:r>
                        <a:rPr b="1" lang="en-US" sz="1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0.9158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7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604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RF_n300_d5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0.6794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0.0188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0.9158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0.0179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7B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738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RF_n200_d5</a:t>
                      </a:r>
                      <a:endParaRPr b="1" sz="1000" u="none" cap="none" strike="noStrike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0.6855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0.0072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0.8927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0.0179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776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>
                    <a:lnL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g3e63b7b7d86_0_76"/>
          <p:cNvSpPr/>
          <p:nvPr/>
        </p:nvSpPr>
        <p:spPr>
          <a:xfrm>
            <a:off x="7013075" y="5192450"/>
            <a:ext cx="4643400" cy="12141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e63b7b7d86_0_76"/>
          <p:cNvSpPr/>
          <p:nvPr/>
        </p:nvSpPr>
        <p:spPr>
          <a:xfrm>
            <a:off x="7013072" y="5192524"/>
            <a:ext cx="93000" cy="1214100"/>
          </a:xfrm>
          <a:prstGeom prst="rect">
            <a:avLst/>
          </a:prstGeom>
          <a:solidFill>
            <a:srgbClr val="E07B2A"/>
          </a:solidFill>
          <a:ln cap="flat" cmpd="sng" w="16925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63b7b7d86_0_76"/>
          <p:cNvSpPr/>
          <p:nvPr/>
        </p:nvSpPr>
        <p:spPr>
          <a:xfrm>
            <a:off x="7261031" y="5260853"/>
            <a:ext cx="41064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Shallow depth (d=3) acts as strong regularization, preventing overfitting to training distribution.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RF_n100_d3 achieves the best composite score and the lowest current fairness norm in the final ranking.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63b7b7d86_0_76"/>
          <p:cNvSpPr/>
          <p:nvPr/>
        </p:nvSpPr>
        <p:spPr>
          <a:xfrm>
            <a:off x="7007549" y="4780600"/>
            <a:ext cx="4649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20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63b7b7d86_5_2"/>
          <p:cNvSpPr txBox="1"/>
          <p:nvPr/>
        </p:nvSpPr>
        <p:spPr>
          <a:xfrm>
            <a:off x="0" y="0"/>
            <a:ext cx="6987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Preliminary Results &amp; Analysis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g3e63b7b7d86_5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74" y="581225"/>
            <a:ext cx="4255151" cy="17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e63b7b7d86_5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763" y="2729767"/>
            <a:ext cx="4441775" cy="1850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e63b7b7d86_5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75" y="4928846"/>
            <a:ext cx="4255151" cy="1772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e63b7b7d86_5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7300" y="216512"/>
            <a:ext cx="4930325" cy="20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e63b7b7d86_5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7888" y="2641450"/>
            <a:ext cx="4747549" cy="1978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e63b7b7d86_5_2"/>
          <p:cNvSpPr txBox="1"/>
          <p:nvPr/>
        </p:nvSpPr>
        <p:spPr>
          <a:xfrm>
            <a:off x="741550" y="2407350"/>
            <a:ext cx="318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/>
              <a:t>Fig1. </a:t>
            </a:r>
            <a:r>
              <a:rPr b="1" lang="en-US" sz="700"/>
              <a:t>Comparing Temporal and Random Test AUC</a:t>
            </a:r>
            <a:endParaRPr b="1" sz="700"/>
          </a:p>
        </p:txBody>
      </p:sp>
      <p:sp>
        <p:nvSpPr>
          <p:cNvPr id="210" name="Google Shape;210;g3e63b7b7d86_5_2"/>
          <p:cNvSpPr txBox="1"/>
          <p:nvPr/>
        </p:nvSpPr>
        <p:spPr>
          <a:xfrm>
            <a:off x="741550" y="4663575"/>
            <a:ext cx="358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/>
              <a:t>Fig2. </a:t>
            </a:r>
            <a:r>
              <a:rPr b="1" lang="en-US" sz="700"/>
              <a:t>Performance Loss Under Temporal Shift</a:t>
            </a:r>
            <a:endParaRPr b="1" sz="700"/>
          </a:p>
        </p:txBody>
      </p:sp>
      <p:sp>
        <p:nvSpPr>
          <p:cNvPr id="211" name="Google Shape;211;g3e63b7b7d86_5_2"/>
          <p:cNvSpPr txBox="1"/>
          <p:nvPr/>
        </p:nvSpPr>
        <p:spPr>
          <a:xfrm>
            <a:off x="3077900" y="6602300"/>
            <a:ext cx="358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/>
              <a:t>Fig3. Temporal AUC Over Time</a:t>
            </a:r>
            <a:endParaRPr b="1" sz="700"/>
          </a:p>
        </p:txBody>
      </p:sp>
      <p:sp>
        <p:nvSpPr>
          <p:cNvPr id="212" name="Google Shape;212;g3e63b7b7d86_5_2"/>
          <p:cNvSpPr txBox="1"/>
          <p:nvPr/>
        </p:nvSpPr>
        <p:spPr>
          <a:xfrm>
            <a:off x="6316375" y="2242675"/>
            <a:ext cx="358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/>
              <a:t>Fig4. Best Validation AUC by Model Family (Alternative View)</a:t>
            </a:r>
            <a:endParaRPr b="1" sz="700"/>
          </a:p>
        </p:txBody>
      </p:sp>
      <p:sp>
        <p:nvSpPr>
          <p:cNvPr id="213" name="Google Shape;213;g3e63b7b7d86_5_2"/>
          <p:cNvSpPr txBox="1"/>
          <p:nvPr/>
        </p:nvSpPr>
        <p:spPr>
          <a:xfrm>
            <a:off x="7697525" y="4725875"/>
            <a:ext cx="358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/>
              <a:t>Fig5. Robustness–Fairness Tradeoff</a:t>
            </a:r>
            <a:endParaRPr b="1" sz="700"/>
          </a:p>
        </p:txBody>
      </p:sp>
      <p:pic>
        <p:nvPicPr>
          <p:cNvPr id="214" name="Google Shape;214;g3e63b7b7d86_5_2"/>
          <p:cNvPicPr preferRelativeResize="0"/>
          <p:nvPr/>
        </p:nvPicPr>
        <p:blipFill rotWithShape="1">
          <a:blip r:embed="rId8">
            <a:alphaModFix/>
          </a:blip>
          <a:srcRect b="0" l="0" r="35517" t="9116"/>
          <a:stretch/>
        </p:blipFill>
        <p:spPr>
          <a:xfrm>
            <a:off x="5415675" y="5095875"/>
            <a:ext cx="6027952" cy="7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e63b7b7d86_5_2"/>
          <p:cNvPicPr preferRelativeResize="0"/>
          <p:nvPr/>
        </p:nvPicPr>
        <p:blipFill rotWithShape="1">
          <a:blip r:embed="rId8">
            <a:alphaModFix/>
          </a:blip>
          <a:srcRect b="0" l="64381" r="0" t="0"/>
          <a:stretch/>
        </p:blipFill>
        <p:spPr>
          <a:xfrm>
            <a:off x="8515349" y="5903125"/>
            <a:ext cx="3329674" cy="85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e63b7b7d86_5_2"/>
          <p:cNvSpPr txBox="1"/>
          <p:nvPr/>
        </p:nvSpPr>
        <p:spPr>
          <a:xfrm>
            <a:off x="6564025" y="6602300"/>
            <a:ext cx="202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/>
              <a:t>Summary Table. (Representative Models)</a:t>
            </a:r>
            <a:endParaRPr b="1"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638ecb74a_0_0"/>
          <p:cNvSpPr/>
          <p:nvPr/>
        </p:nvSpPr>
        <p:spPr>
          <a:xfrm>
            <a:off x="487680" y="243840"/>
            <a:ext cx="11216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638ecb74a_0_0"/>
          <p:cNvSpPr/>
          <p:nvPr/>
        </p:nvSpPr>
        <p:spPr>
          <a:xfrm>
            <a:off x="487680" y="1072896"/>
            <a:ext cx="11216700" cy="30300"/>
          </a:xfrm>
          <a:prstGeom prst="rect">
            <a:avLst/>
          </a:prstGeom>
          <a:solidFill>
            <a:srgbClr val="CADCFC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638ecb74a_0_0"/>
          <p:cNvSpPr/>
          <p:nvPr/>
        </p:nvSpPr>
        <p:spPr>
          <a:xfrm>
            <a:off x="487680" y="1316736"/>
            <a:ext cx="5425500" cy="25605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638ecb74a_0_0"/>
          <p:cNvSpPr/>
          <p:nvPr/>
        </p:nvSpPr>
        <p:spPr>
          <a:xfrm>
            <a:off x="487680" y="1316736"/>
            <a:ext cx="633900" cy="25605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638ecb74a_0_0"/>
          <p:cNvSpPr/>
          <p:nvPr/>
        </p:nvSpPr>
        <p:spPr>
          <a:xfrm>
            <a:off x="487680" y="2353056"/>
            <a:ext cx="633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e638ecb74a_0_0"/>
          <p:cNvSpPr/>
          <p:nvPr/>
        </p:nvSpPr>
        <p:spPr>
          <a:xfrm>
            <a:off x="1243584" y="1438656"/>
            <a:ext cx="454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Leakage Prevention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e638ecb74a_0_0"/>
          <p:cNvSpPr/>
          <p:nvPr/>
        </p:nvSpPr>
        <p:spPr>
          <a:xfrm>
            <a:off x="1243584" y="1853184"/>
            <a:ext cx="853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e638ecb74a_0_0"/>
          <p:cNvSpPr/>
          <p:nvPr/>
        </p:nvSpPr>
        <p:spPr>
          <a:xfrm>
            <a:off x="1243584" y="2072640"/>
            <a:ext cx="45477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Preprocessing steps like imputation, scaling, and fairness-group definitions can accidentally use information from validation or test data,</a:t>
            </a:r>
            <a:endParaRPr sz="12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which would make the evaluation overly optimistic</a:t>
            </a:r>
            <a:endParaRPr sz="12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e638ecb74a_0_0"/>
          <p:cNvSpPr/>
          <p:nvPr/>
        </p:nvSpPr>
        <p:spPr>
          <a:xfrm>
            <a:off x="1243584" y="2779776"/>
            <a:ext cx="914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e638ecb74a_0_0"/>
          <p:cNvSpPr/>
          <p:nvPr/>
        </p:nvSpPr>
        <p:spPr>
          <a:xfrm>
            <a:off x="1243584" y="2999232"/>
            <a:ext cx="45477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 fit missing-value imputation, feature scaling, and fairness-group cutoffs on the training split only, then applied the same transformations to validation and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638ecb74a_0_0"/>
          <p:cNvSpPr/>
          <p:nvPr/>
        </p:nvSpPr>
        <p:spPr>
          <a:xfrm>
            <a:off x="487680" y="4059936"/>
            <a:ext cx="5425500" cy="25605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638ecb74a_0_0"/>
          <p:cNvSpPr/>
          <p:nvPr/>
        </p:nvSpPr>
        <p:spPr>
          <a:xfrm>
            <a:off x="487680" y="4059936"/>
            <a:ext cx="633900" cy="25605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638ecb74a_0_0"/>
          <p:cNvSpPr/>
          <p:nvPr/>
        </p:nvSpPr>
        <p:spPr>
          <a:xfrm>
            <a:off x="487680" y="5096256"/>
            <a:ext cx="633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638ecb74a_0_0"/>
          <p:cNvSpPr/>
          <p:nvPr/>
        </p:nvSpPr>
        <p:spPr>
          <a:xfrm>
            <a:off x="1243584" y="4181856"/>
            <a:ext cx="454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Single-Threshold Fairness Was Misleading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638ecb74a_0_0"/>
          <p:cNvSpPr/>
          <p:nvPr/>
        </p:nvSpPr>
        <p:spPr>
          <a:xfrm>
            <a:off x="1243584" y="4596384"/>
            <a:ext cx="853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638ecb74a_0_0"/>
          <p:cNvSpPr/>
          <p:nvPr/>
        </p:nvSpPr>
        <p:spPr>
          <a:xfrm>
            <a:off x="1243584" y="4815840"/>
            <a:ext cx="45477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Fairness measured only at threshold 0.5 gave an incomplete picture, because some models predicted very few positive cases and therefore appeared artificially fair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638ecb74a_0_0"/>
          <p:cNvSpPr/>
          <p:nvPr/>
        </p:nvSpPr>
        <p:spPr>
          <a:xfrm>
            <a:off x="1243584" y="5522976"/>
            <a:ext cx="914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→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638ecb74a_0_0"/>
          <p:cNvSpPr/>
          <p:nvPr/>
        </p:nvSpPr>
        <p:spPr>
          <a:xfrm>
            <a:off x="1243584" y="5742432"/>
            <a:ext cx="45477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 expanded fairness analysis across multiple thresholds and tracked FPR, TPR, and PPR, then summarized worst-case disparity across thresholds instead of relying only on the default threshold</a:t>
            </a:r>
            <a:endParaRPr sz="12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638ecb74a_0_0"/>
          <p:cNvSpPr/>
          <p:nvPr/>
        </p:nvSpPr>
        <p:spPr>
          <a:xfrm>
            <a:off x="6156960" y="1316736"/>
            <a:ext cx="5425500" cy="25605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638ecb74a_0_0"/>
          <p:cNvSpPr/>
          <p:nvPr/>
        </p:nvSpPr>
        <p:spPr>
          <a:xfrm>
            <a:off x="6156960" y="1316736"/>
            <a:ext cx="633900" cy="2560500"/>
          </a:xfrm>
          <a:prstGeom prst="rect">
            <a:avLst/>
          </a:prstGeom>
          <a:solidFill>
            <a:srgbClr val="E07B2A"/>
          </a:solidFill>
          <a:ln cap="flat" cmpd="sng" w="16925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638ecb74a_0_0"/>
          <p:cNvSpPr/>
          <p:nvPr/>
        </p:nvSpPr>
        <p:spPr>
          <a:xfrm>
            <a:off x="6156960" y="2353056"/>
            <a:ext cx="633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638ecb74a_0_0"/>
          <p:cNvSpPr/>
          <p:nvPr/>
        </p:nvSpPr>
        <p:spPr>
          <a:xfrm>
            <a:off x="6912864" y="1438656"/>
            <a:ext cx="454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Robustness vs Fairness Trade-off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638ecb74a_0_0"/>
          <p:cNvSpPr/>
          <p:nvPr/>
        </p:nvSpPr>
        <p:spPr>
          <a:xfrm>
            <a:off x="6912864" y="1853184"/>
            <a:ext cx="853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638ecb74a_0_0"/>
          <p:cNvSpPr/>
          <p:nvPr/>
        </p:nvSpPr>
        <p:spPr>
          <a:xfrm>
            <a:off x="6912864" y="2072640"/>
            <a:ext cx="45477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 single model was clearly best on robustness, fairness, and predictive performance at the same time, so choosing a model based on one metric alone was not sufficient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638ecb74a_0_0"/>
          <p:cNvSpPr/>
          <p:nvPr/>
        </p:nvSpPr>
        <p:spPr>
          <a:xfrm>
            <a:off x="6912864" y="2779776"/>
            <a:ext cx="914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→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638ecb74a_0_0"/>
          <p:cNvSpPr/>
          <p:nvPr/>
        </p:nvSpPr>
        <p:spPr>
          <a:xfrm>
            <a:off x="6912864" y="2999232"/>
            <a:ext cx="45477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 compared models using multiple metrics together and used a composite ranking as a practical way to summarize the tradeoff between </a:t>
            </a:r>
            <a:r>
              <a:rPr b="0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robustness 35% + fairness 40% + performance 15% + accuracy 10%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638ecb74a_0_0"/>
          <p:cNvSpPr/>
          <p:nvPr/>
        </p:nvSpPr>
        <p:spPr>
          <a:xfrm>
            <a:off x="6156960" y="4059936"/>
            <a:ext cx="5425500" cy="25605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638ecb74a_0_0"/>
          <p:cNvSpPr/>
          <p:nvPr/>
        </p:nvSpPr>
        <p:spPr>
          <a:xfrm>
            <a:off x="6156960" y="4059936"/>
            <a:ext cx="633900" cy="2560500"/>
          </a:xfrm>
          <a:prstGeom prst="rect">
            <a:avLst/>
          </a:prstGeom>
          <a:solidFill>
            <a:srgbClr val="4472C4"/>
          </a:solidFill>
          <a:ln cap="flat" cmpd="sng" w="169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638ecb74a_0_0"/>
          <p:cNvSpPr/>
          <p:nvPr/>
        </p:nvSpPr>
        <p:spPr>
          <a:xfrm>
            <a:off x="6156960" y="5096256"/>
            <a:ext cx="633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638ecb74a_0_0"/>
          <p:cNvSpPr/>
          <p:nvPr/>
        </p:nvSpPr>
        <p:spPr>
          <a:xfrm>
            <a:off x="6912864" y="4181856"/>
            <a:ext cx="454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Hyperparameter Search Complexity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638ecb74a_0_0"/>
          <p:cNvSpPr/>
          <p:nvPr/>
        </p:nvSpPr>
        <p:spPr>
          <a:xfrm>
            <a:off x="6912864" y="4596384"/>
            <a:ext cx="853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638ecb74a_0_0"/>
          <p:cNvSpPr/>
          <p:nvPr/>
        </p:nvSpPr>
        <p:spPr>
          <a:xfrm>
            <a:off x="6912864" y="4815840"/>
            <a:ext cx="45477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 small one-parameter sweep was not enough, because different model families respond to different hyperparameters and their interactions.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638ecb74a_0_0"/>
          <p:cNvSpPr/>
          <p:nvPr/>
        </p:nvSpPr>
        <p:spPr>
          <a:xfrm>
            <a:off x="6912864" y="5522976"/>
            <a:ext cx="914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→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638ecb74a_0_0"/>
          <p:cNvSpPr/>
          <p:nvPr/>
        </p:nvSpPr>
        <p:spPr>
          <a:xfrm>
            <a:off x="6912864" y="5742432"/>
            <a:ext cx="45477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 built separate tuning sections for Logistic Regression, Decision Tree, Random Forest, and XGBoost, and used validation AUC to choose configurations while keeping the test set only for final evaluation.</a:t>
            </a:r>
            <a:endParaRPr sz="12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63b7b7d86_0_256"/>
          <p:cNvSpPr/>
          <p:nvPr/>
        </p:nvSpPr>
        <p:spPr>
          <a:xfrm>
            <a:off x="487680" y="243840"/>
            <a:ext cx="11216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Plan for Final Report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e63b7b7d86_0_256"/>
          <p:cNvSpPr/>
          <p:nvPr/>
        </p:nvSpPr>
        <p:spPr>
          <a:xfrm>
            <a:off x="487680" y="1072896"/>
            <a:ext cx="11216700" cy="30300"/>
          </a:xfrm>
          <a:prstGeom prst="rect">
            <a:avLst/>
          </a:prstGeom>
          <a:solidFill>
            <a:srgbClr val="CADCFC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63b7b7d86_0_256"/>
          <p:cNvSpPr/>
          <p:nvPr/>
        </p:nvSpPr>
        <p:spPr>
          <a:xfrm>
            <a:off x="487680" y="1280160"/>
            <a:ext cx="5425500" cy="6096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63b7b7d86_0_256"/>
          <p:cNvSpPr/>
          <p:nvPr/>
        </p:nvSpPr>
        <p:spPr>
          <a:xfrm>
            <a:off x="487680" y="1280160"/>
            <a:ext cx="5425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Must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e63b7b7d86_0_256"/>
          <p:cNvSpPr/>
          <p:nvPr/>
        </p:nvSpPr>
        <p:spPr>
          <a:xfrm>
            <a:off x="487680" y="204825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63b7b7d86_0_256"/>
          <p:cNvSpPr/>
          <p:nvPr/>
        </p:nvSpPr>
        <p:spPr>
          <a:xfrm>
            <a:off x="487680" y="2048256"/>
            <a:ext cx="85200" cy="9753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63b7b7d86_0_256"/>
          <p:cNvSpPr/>
          <p:nvPr/>
        </p:nvSpPr>
        <p:spPr>
          <a:xfrm>
            <a:off x="682752" y="214579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Neural Network Experiments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63b7b7d86_0_256"/>
          <p:cNvSpPr/>
          <p:nvPr/>
        </p:nvSpPr>
        <p:spPr>
          <a:xfrm>
            <a:off x="682752" y="246278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complete the final planned model family and compare it against current baselines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63b7b7d86_0_256"/>
          <p:cNvSpPr/>
          <p:nvPr/>
        </p:nvSpPr>
        <p:spPr>
          <a:xfrm>
            <a:off x="487680" y="314553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63b7b7d86_0_256"/>
          <p:cNvSpPr/>
          <p:nvPr/>
        </p:nvSpPr>
        <p:spPr>
          <a:xfrm>
            <a:off x="487680" y="3145536"/>
            <a:ext cx="85200" cy="9753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63b7b7d86_0_256"/>
          <p:cNvSpPr/>
          <p:nvPr/>
        </p:nvSpPr>
        <p:spPr>
          <a:xfrm>
            <a:off x="682752" y="324307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One Focused Extra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63b7b7d86_0_256"/>
          <p:cNvSpPr/>
          <p:nvPr/>
        </p:nvSpPr>
        <p:spPr>
          <a:xfrm>
            <a:off x="682752" y="356006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either a small ablation or one deeper fairness check, if it clearly strengthens the final 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e63b7b7d86_0_256"/>
          <p:cNvSpPr/>
          <p:nvPr/>
        </p:nvSpPr>
        <p:spPr>
          <a:xfrm>
            <a:off x="487680" y="424281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63b7b7d86_0_256"/>
          <p:cNvSpPr/>
          <p:nvPr/>
        </p:nvSpPr>
        <p:spPr>
          <a:xfrm>
            <a:off x="487680" y="4242816"/>
            <a:ext cx="85200" cy="9753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63b7b7d86_0_256"/>
          <p:cNvSpPr/>
          <p:nvPr/>
        </p:nvSpPr>
        <p:spPr>
          <a:xfrm>
            <a:off x="682752" y="434035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Finalize Results and Figures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63b7b7d86_0_256"/>
          <p:cNvSpPr/>
          <p:nvPr/>
        </p:nvSpPr>
        <p:spPr>
          <a:xfrm>
            <a:off x="682752" y="465734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rerun the final pipeline and lock the main comparison plots/tables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e63b7b7d86_0_256"/>
          <p:cNvSpPr/>
          <p:nvPr/>
        </p:nvSpPr>
        <p:spPr>
          <a:xfrm>
            <a:off x="487680" y="534009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e63b7b7d86_0_256"/>
          <p:cNvSpPr/>
          <p:nvPr/>
        </p:nvSpPr>
        <p:spPr>
          <a:xfrm>
            <a:off x="487680" y="5340096"/>
            <a:ext cx="85200" cy="975300"/>
          </a:xfrm>
          <a:prstGeom prst="rect">
            <a:avLst/>
          </a:prstGeom>
          <a:solidFill>
            <a:srgbClr val="1E2761"/>
          </a:solidFill>
          <a:ln cap="flat" cmpd="sng" w="169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63b7b7d86_0_256"/>
          <p:cNvSpPr/>
          <p:nvPr/>
        </p:nvSpPr>
        <p:spPr>
          <a:xfrm>
            <a:off x="682752" y="543763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Synthesize Final Conclusions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63b7b7d86_0_256"/>
          <p:cNvSpPr/>
          <p:nvPr/>
        </p:nvSpPr>
        <p:spPr>
          <a:xfrm>
            <a:off x="682752" y="575462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clearly present methodology fixes, key findings, tradeoffs, and limitations and summarize what we learned about temporal robustness and fairness across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63b7b7d86_0_256"/>
          <p:cNvSpPr/>
          <p:nvPr/>
        </p:nvSpPr>
        <p:spPr>
          <a:xfrm>
            <a:off x="6278880" y="1280160"/>
            <a:ext cx="5425500" cy="6096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63b7b7d86_0_256"/>
          <p:cNvSpPr/>
          <p:nvPr/>
        </p:nvSpPr>
        <p:spPr>
          <a:xfrm>
            <a:off x="6278880" y="1280160"/>
            <a:ext cx="5425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Time Allows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63b7b7d86_0_256"/>
          <p:cNvSpPr/>
          <p:nvPr/>
        </p:nvSpPr>
        <p:spPr>
          <a:xfrm>
            <a:off x="6278880" y="204825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63b7b7d86_0_256"/>
          <p:cNvSpPr/>
          <p:nvPr/>
        </p:nvSpPr>
        <p:spPr>
          <a:xfrm>
            <a:off x="6278880" y="2048256"/>
            <a:ext cx="85200" cy="9753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63b7b7d86_0_256"/>
          <p:cNvSpPr/>
          <p:nvPr/>
        </p:nvSpPr>
        <p:spPr>
          <a:xfrm>
            <a:off x="6473952" y="214579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Re-run on Full Dataset (2.26M)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63b7b7d86_0_256"/>
          <p:cNvSpPr/>
          <p:nvPr/>
        </p:nvSpPr>
        <p:spPr>
          <a:xfrm>
            <a:off x="6473952" y="246278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Validate all results on complete data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, again,</a:t>
            </a: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if time allows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63b7b7d86_0_256"/>
          <p:cNvSpPr/>
          <p:nvPr/>
        </p:nvSpPr>
        <p:spPr>
          <a:xfrm>
            <a:off x="6278880" y="314553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63b7b7d86_0_256"/>
          <p:cNvSpPr/>
          <p:nvPr/>
        </p:nvSpPr>
        <p:spPr>
          <a:xfrm>
            <a:off x="6278880" y="3145536"/>
            <a:ext cx="85200" cy="9753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63b7b7d86_0_256"/>
          <p:cNvSpPr/>
          <p:nvPr/>
        </p:nvSpPr>
        <p:spPr>
          <a:xfrm>
            <a:off x="6473952" y="324307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Feature Importance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63b7b7d86_0_256"/>
          <p:cNvSpPr/>
          <p:nvPr/>
        </p:nvSpPr>
        <p:spPr>
          <a:xfrm>
            <a:off x="6473952" y="356006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Identify which features most drive unfairness across credit &amp; income 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63b7b7d86_0_256"/>
          <p:cNvSpPr/>
          <p:nvPr/>
        </p:nvSpPr>
        <p:spPr>
          <a:xfrm>
            <a:off x="6278880" y="424281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63b7b7d86_0_256"/>
          <p:cNvSpPr/>
          <p:nvPr/>
        </p:nvSpPr>
        <p:spPr>
          <a:xfrm>
            <a:off x="6278880" y="4242816"/>
            <a:ext cx="85200" cy="9753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63b7b7d86_0_256"/>
          <p:cNvSpPr/>
          <p:nvPr/>
        </p:nvSpPr>
        <p:spPr>
          <a:xfrm>
            <a:off x="6473952" y="434035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Yearly AUC Trend Deep Dive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63b7b7d86_0_256"/>
          <p:cNvSpPr/>
          <p:nvPr/>
        </p:nvSpPr>
        <p:spPr>
          <a:xfrm>
            <a:off x="6473952" y="465734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Analyze per-year AUC degradation (2016/2017/2018) by model family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e63b7b7d86_0_256"/>
          <p:cNvSpPr/>
          <p:nvPr/>
        </p:nvSpPr>
        <p:spPr>
          <a:xfrm>
            <a:off x="6278880" y="5340096"/>
            <a:ext cx="5425500" cy="975300"/>
          </a:xfrm>
          <a:prstGeom prst="rect">
            <a:avLst/>
          </a:prstGeom>
          <a:solidFill>
            <a:srgbClr val="FAFBFF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63b7b7d86_0_256"/>
          <p:cNvSpPr/>
          <p:nvPr/>
        </p:nvSpPr>
        <p:spPr>
          <a:xfrm>
            <a:off x="6278880" y="5340096"/>
            <a:ext cx="85200" cy="975300"/>
          </a:xfrm>
          <a:prstGeom prst="rect">
            <a:avLst/>
          </a:prstGeom>
          <a:solidFill>
            <a:srgbClr val="2E7D5B"/>
          </a:solidFill>
          <a:ln cap="flat" cmpd="sng" w="169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63b7b7d86_0_256"/>
          <p:cNvSpPr/>
          <p:nvPr/>
        </p:nvSpPr>
        <p:spPr>
          <a:xfrm>
            <a:off x="6473952" y="5437632"/>
            <a:ext cx="512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Performance Improvement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63b7b7d86_0_256"/>
          <p:cNvSpPr/>
          <p:nvPr/>
        </p:nvSpPr>
        <p:spPr>
          <a:xfrm>
            <a:off x="6473952" y="5754624"/>
            <a:ext cx="5120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Further hyperparameter tuning to push temporal AUC higher across all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e63b7b7d86_0_256"/>
          <p:cNvSpPr/>
          <p:nvPr/>
        </p:nvSpPr>
        <p:spPr>
          <a:xfrm>
            <a:off x="6059424" y="1280160"/>
            <a:ext cx="73200" cy="5522700"/>
          </a:xfrm>
          <a:prstGeom prst="rect">
            <a:avLst/>
          </a:prstGeom>
          <a:solidFill>
            <a:srgbClr val="CADCFC"/>
          </a:solidFill>
          <a:ln cap="flat" cmpd="sng" w="169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2026-03-25T03:31:37Z</dcterms:created>
  <dc:creator>Hyeon Ah Jung</dc:creator>
</cp:coreProperties>
</file>